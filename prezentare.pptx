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9" r:id="rId5"/>
    <p:sldId id="259" r:id="rId6"/>
    <p:sldId id="260" r:id="rId7"/>
    <p:sldId id="271" r:id="rId8"/>
    <p:sldId id="270" r:id="rId9"/>
    <p:sldId id="272" r:id="rId10"/>
    <p:sldId id="277" r:id="rId11"/>
    <p:sldId id="273" r:id="rId12"/>
    <p:sldId id="274" r:id="rId13"/>
    <p:sldId id="275" r:id="rId14"/>
    <p:sldId id="276" r:id="rId15"/>
    <p:sldId id="278" r:id="rId16"/>
    <p:sldId id="281" r:id="rId17"/>
    <p:sldId id="279" r:id="rId18"/>
    <p:sldId id="280" r:id="rId19"/>
    <p:sldId id="261" r:id="rId20"/>
    <p:sldId id="262" r:id="rId21"/>
    <p:sldId id="263" r:id="rId22"/>
    <p:sldId id="264" r:id="rId23"/>
    <p:sldId id="265" r:id="rId24"/>
    <p:sldId id="282" r:id="rId25"/>
    <p:sldId id="266" r:id="rId26"/>
    <p:sldId id="267" r:id="rId27"/>
    <p:sldId id="268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0"/>
    <p:restoredTop sz="94610"/>
  </p:normalViewPr>
  <p:slideViewPr>
    <p:cSldViewPr snapToGrid="0" snapToObjects="1">
      <p:cViewPr>
        <p:scale>
          <a:sx n="180" d="100"/>
          <a:sy n="180" d="100"/>
        </p:scale>
        <p:origin x="736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556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A259B-31E9-0834-6E47-D3E69613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CFEAAB-9CEA-93D9-85A7-FF78425063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96009-CE59-4139-9A73-D067517DB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FC9E4-55CF-ACE9-1DF8-231CE8B93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184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BAFFB2-BF53-BB38-60AD-D745EDDC2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4152D7-0CF1-31BE-1AC1-266E5AF1D5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607B7A-AC74-164F-BFE9-11A44993B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5987EC-C3B9-2EE5-86C4-D79BBBAF06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1555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50C8-6581-F0D0-24E2-11FCBEBF7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F44D52-6A70-7C2C-A854-E66AB0C14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72EDD4-D5EA-3618-2F03-4AF914DDB8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6D7E3-2499-04BF-2817-385DBEF51A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989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C075E-1101-1EBB-0A48-612F2149B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4D77D9-9B62-3E05-4EFE-374B3A90DD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972C99-A696-0B46-EBBF-283155209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143B39-A4A9-B310-24DB-CB10AC38E3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63974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EB644-CA0C-95D8-68CF-02D0D49D1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8DCDC-EEE0-39DB-A83B-633E5F6BC5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C18531-3436-A46F-21C2-076D174A19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4D9FD-FA5B-3AED-FD84-E2736B2ED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616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3CF38-ABF6-F164-1388-8015248F6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B5C26-807E-EC2F-DE4B-B1419E5339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3701D4-29C5-09BD-6987-2DF6CFCB6C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7160BE-6166-A63F-4D02-DDCFBDDA1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503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BFF13-4087-DC1F-8E9A-327C0D513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A2E434-81BD-3889-E15F-F94F0A6CA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DAA409-F6EE-B0A5-23BB-624AAD64F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CFE54D-2AAA-3106-2E12-FF7E181F9E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6096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BB4359-DD43-B722-E395-7D1945ADC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8E717-B353-04AC-193D-C978BB027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4542D-38AD-981F-106B-B67D1B50C5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6D81AB-78F6-9104-842B-7372493A67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80506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B270D-AF5F-0AA5-DA12-7E4D720FF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90A307-60D5-8FB5-8641-07C58DA42F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7F46E1-F725-4876-8B8A-88B6C3A1C4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E71A3-F8E8-99B5-F6F7-6E6CF3080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849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1F15C-23B8-2E38-EA3A-235DC652B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3DCE25-AB79-DFEB-F14E-5141D6C0F6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468F55-10A7-660D-5282-BCF4A666D6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FAD0D-56E9-A17E-B538-2F20E47F51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9515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0A6F5-1D38-E9D7-0EB2-FDD7E09CB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3A07-2A63-2E6C-D4C2-DF4316657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EFF941-DE97-2777-8E3B-82BDD506F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18291-A814-9627-E1F2-DAE1EC5409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17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C68B3-4E70-8C71-2562-FD02C2CE2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4A937-9E48-2C24-8581-F4CBF7B5C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9E1C18-EB05-6815-E01E-26421E48B4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8C4FB8-B07E-DA29-1214-921B82376D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6562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546B-CA41-B4EF-7042-D805436C0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EA096-AC51-7DAD-4E51-D8DDFB268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87C0F8-F86D-F053-E211-DE9FD536F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791E4-9B94-0829-8D84-26045C1603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3192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EE12-DB26-BD57-6D6D-06EA25FE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D9814A-1E87-B41D-F88C-66F842C29C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600DA8-4FE6-B963-2A3A-8FF4B87539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2191D-6606-1853-09BE-C29C8E5E6A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644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 automată E2E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vs. Cypress pe o platformă de e-commerce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0" y="2651760"/>
            <a:ext cx="5486400" cy="0"/>
          </a:xfrm>
          <a:prstGeom prst="line">
            <a:avLst/>
          </a:prstGeom>
          <a:noFill/>
          <a:ln w="1905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645920" y="2880360"/>
            <a:ext cx="2560320" cy="7772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645920" y="28803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0" y="2880360"/>
            <a:ext cx="731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2880360"/>
            <a:ext cx="2560320" cy="77724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288036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Testarea Sistemelor Software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Contextul proiectului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Testarea manuală insuficientă la scară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Aplicațiile web cresc în complexitate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Necesitatea validării fluxurilor critice E2E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Soluția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463040"/>
            <a:ext cx="35661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Două framework-uri implementate în paralel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Aceleași 6 scenarii, abordări diferite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Comparație practică: Playwright (Python) vs Cypress (TypeScript)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testată — NopCommerce</a:t>
            </a:r>
            <a:endParaRPr lang="en-US" sz="2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FC892A9-C994-7F4A-093A-9B3B3F3E92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46" y="794430"/>
            <a:ext cx="7772400" cy="3828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AB595-9A66-82C6-779F-C56D2F2E3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3D0852E-E94A-22A4-0C57-507EDAC30FE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337CB4D-DEE2-36BC-1FFF-9EAB9E64E33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Aplicația testată — NopCommerce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D37F7A1-D093-F17B-A40A-B5E7D95B862F}"/>
              </a:ext>
            </a:extLst>
          </p:cNvPr>
          <p:cNvSpPr/>
          <p:nvPr/>
        </p:nvSpPr>
        <p:spPr>
          <a:xfrm>
            <a:off x="365760" y="91440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Platformă e-commerce open-source (ASP.NET Core)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complet: catalog, coș, wishlist, checkout, plăți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pentru E2E: AJAX, formulare multi-pas, sesiuni, prețuri dinamice</a:t>
            </a:r>
            <a:endParaRPr lang="en-US" sz="14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79452AAF-F21F-F037-B16F-F4A674EE5075}"/>
              </a:ext>
            </a:extLst>
          </p:cNvPr>
          <p:cNvSpPr/>
          <p:nvPr/>
        </p:nvSpPr>
        <p:spPr>
          <a:xfrm>
            <a:off x="4846320" y="914400"/>
            <a:ext cx="2011680" cy="1188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255C33F-80D0-0132-4B71-AAD595065DE8}"/>
              </a:ext>
            </a:extLst>
          </p:cNvPr>
          <p:cNvSpPr/>
          <p:nvPr/>
        </p:nvSpPr>
        <p:spPr>
          <a:xfrm>
            <a:off x="4846320" y="9144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Filtrare AJAX</a:t>
            </a:r>
            <a:endParaRPr lang="en-US" sz="1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739630AA-CD18-88E3-01B8-4AACE1AF51D6}"/>
              </a:ext>
            </a:extLst>
          </p:cNvPr>
          <p:cNvSpPr/>
          <p:nvPr/>
        </p:nvSpPr>
        <p:spPr>
          <a:xfrm>
            <a:off x="6995160" y="914400"/>
            <a:ext cx="2011680" cy="1188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5A607F9-EE10-AA4E-EF7A-15F5B8980965}"/>
              </a:ext>
            </a:extLst>
          </p:cNvPr>
          <p:cNvSpPr/>
          <p:nvPr/>
        </p:nvSpPr>
        <p:spPr>
          <a:xfrm>
            <a:off x="6995160" y="9144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multi-pas</a:t>
            </a:r>
            <a:endParaRPr lang="en-US" sz="1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53D3E80-C03A-EE7A-BBC9-3AD30A4C44D2}"/>
              </a:ext>
            </a:extLst>
          </p:cNvPr>
          <p:cNvSpPr/>
          <p:nvPr/>
        </p:nvSpPr>
        <p:spPr>
          <a:xfrm>
            <a:off x="4846320" y="2331720"/>
            <a:ext cx="2011680" cy="1188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94184966-0BC3-B5A1-D9DA-E9DA905AB839}"/>
              </a:ext>
            </a:extLst>
          </p:cNvPr>
          <p:cNvSpPr/>
          <p:nvPr/>
        </p:nvSpPr>
        <p:spPr>
          <a:xfrm>
            <a:off x="4846320" y="23317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Gestionare sesiune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E030287-15FD-D9F8-5D1E-2B18B45F1FAC}"/>
              </a:ext>
            </a:extLst>
          </p:cNvPr>
          <p:cNvSpPr/>
          <p:nvPr/>
        </p:nvSpPr>
        <p:spPr>
          <a:xfrm>
            <a:off x="6995160" y="2331720"/>
            <a:ext cx="2011680" cy="11887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B821B062-414B-998E-0A8A-64D41ED6BE5F}"/>
              </a:ext>
            </a:extLst>
          </p:cNvPr>
          <p:cNvSpPr/>
          <p:nvPr/>
        </p:nvSpPr>
        <p:spPr>
          <a:xfrm>
            <a:off x="6995160" y="23317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Prețuri dinamice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C531F9E7-635E-44C7-70D0-57E7B0A09588}"/>
              </a:ext>
            </a:extLst>
          </p:cNvPr>
          <p:cNvSpPr/>
          <p:nvPr/>
        </p:nvSpPr>
        <p:spPr>
          <a:xfrm>
            <a:off x="365760" y="3520440"/>
            <a:ext cx="8412480" cy="1325880"/>
          </a:xfrm>
          <a:prstGeom prst="rect">
            <a:avLst/>
          </a:prstGeom>
          <a:solidFill>
            <a:srgbClr val="E8EEF8"/>
          </a:solidFill>
          <a:ln w="1270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FC98D5C-3C31-0B65-19DA-95AF6A690EA1}"/>
              </a:ext>
            </a:extLst>
          </p:cNvPr>
          <p:cNvSpPr/>
          <p:nvPr/>
        </p:nvSpPr>
        <p:spPr>
          <a:xfrm>
            <a:off x="365760" y="3520440"/>
            <a:ext cx="109728" cy="13258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E7A9C51-710E-4CA2-71EA-FFCD9CE71DD8}"/>
              </a:ext>
            </a:extLst>
          </p:cNvPr>
          <p:cNvSpPr/>
          <p:nvPr/>
        </p:nvSpPr>
        <p:spPr>
          <a:xfrm>
            <a:off x="594360" y="3611880"/>
            <a:ext cx="8001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NopCommerce rulează local via Docker pe localhost:8080, combinând ASP.NET Core cu SQL Server 2022 — oferind un mediu realist pentru scenariile E2E.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42594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Configurarea mediului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743200" cy="347472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Docker Compose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-f docker-</a:t>
            </a:r>
            <a:r>
              <a:rPr lang="en-US" sz="1000" dirty="0" err="1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compose.nopcommerce.yml</a:t>
            </a: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up -d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5603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NopCommerce + SQL Server 2022 pe localhost:8080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188720"/>
            <a:ext cx="2743200" cy="3474720"/>
          </a:xfrm>
          <a:prstGeom prst="rect">
            <a:avLst/>
          </a:prstGeom>
          <a:solidFill>
            <a:srgbClr val="0F2035"/>
          </a:solidFill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Playwright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182880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29000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83280" y="256032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29000" y="25603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playwright install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83280" y="329184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29000" y="329184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test_workflows.py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72200" y="1188720"/>
            <a:ext cx="2743200" cy="347472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17220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Cypress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182880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55080" y="182880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2560320"/>
            <a:ext cx="2468880" cy="530352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55080" y="2560320"/>
            <a:ext cx="23774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test  /  npm run cy:open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— Guest mega-flow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Coș → Checkout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8686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46120" y="868680"/>
            <a:ext cx="274320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4612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— Configurator PC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325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Prețuri dinamice + Cupon invalid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86868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200" y="868680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172200" y="8686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 — Comparare produse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comparare + Clear list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27432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74320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004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WF4 — Produs digital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Livrare omisă automat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246120" y="27432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46120" y="2743200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24612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WF5 — Înregistrare cont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dinamic + Prima comandă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172200" y="2743200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72200" y="2743200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72200" y="27432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WF6 — Persistența sesiunii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Coș + Adresă după logout/login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C0A72-118E-5C80-D946-FA4851D00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FCD31F-58C6-7CF6-FF71-4F880C7E72CC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AAEBB3-9974-45FD-855F-2295D7AB119D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06BA614-89D4-A59C-8ACD-F65741B8336F}"/>
              </a:ext>
            </a:extLst>
          </p:cNvPr>
          <p:cNvSpPr/>
          <p:nvPr/>
        </p:nvSpPr>
        <p:spPr>
          <a:xfrm>
            <a:off x="2949827" y="1775991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1289DC0-8E72-996B-1B27-DD6A0FF260EE}"/>
              </a:ext>
            </a:extLst>
          </p:cNvPr>
          <p:cNvSpPr/>
          <p:nvPr/>
        </p:nvSpPr>
        <p:spPr>
          <a:xfrm>
            <a:off x="2949827" y="1775991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0039213-A943-5F38-A35B-26D82215D11B}"/>
              </a:ext>
            </a:extLst>
          </p:cNvPr>
          <p:cNvSpPr/>
          <p:nvPr/>
        </p:nvSpPr>
        <p:spPr>
          <a:xfrm>
            <a:off x="2949827" y="1775991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 — Guest mega-flow</a:t>
            </a:r>
            <a:endParaRPr lang="en-US" sz="13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28317C-57D3-F5D8-7570-E948D94946F8}"/>
              </a:ext>
            </a:extLst>
          </p:cNvPr>
          <p:cNvSpPr/>
          <p:nvPr/>
        </p:nvSpPr>
        <p:spPr>
          <a:xfrm>
            <a:off x="3041267" y="2233191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Wishlist → Coș → Checkout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757941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2993-F182-4B2C-943C-DD7F7FBD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2D1B65-A882-92AF-9BC0-C89F83310CC9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B8D927A-0307-44A7-37E7-0FE2E538B5BE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2B34F8DB-DDC5-3A67-691F-C64D413ED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3778102" y="1029500"/>
            <a:ext cx="619997" cy="3235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29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8A46D-24FC-EC52-7E7B-48C741BED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52FCE77-9F5A-BBD9-32B7-0520008CB43F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35C1BB-4441-1D92-24F3-72731360643D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6DB7667-0D31-795E-47A2-9C3F01602F38}"/>
              </a:ext>
            </a:extLst>
          </p:cNvPr>
          <p:cNvSpPr/>
          <p:nvPr/>
        </p:nvSpPr>
        <p:spPr>
          <a:xfrm>
            <a:off x="3200400" y="1761815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13A42A7-F7CF-FE71-E738-84B258AE7DCD}"/>
              </a:ext>
            </a:extLst>
          </p:cNvPr>
          <p:cNvSpPr/>
          <p:nvPr/>
        </p:nvSpPr>
        <p:spPr>
          <a:xfrm>
            <a:off x="3200400" y="1761815"/>
            <a:ext cx="274320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E232C20-FF01-E0B4-33BD-DDB390A0EC15}"/>
              </a:ext>
            </a:extLst>
          </p:cNvPr>
          <p:cNvSpPr/>
          <p:nvPr/>
        </p:nvSpPr>
        <p:spPr>
          <a:xfrm>
            <a:off x="3200400" y="1761815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 — Configurator PC</a:t>
            </a:r>
            <a:endParaRPr lang="en-US" sz="13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8A848E4-BCBE-E09D-0356-B45994976960}"/>
              </a:ext>
            </a:extLst>
          </p:cNvPr>
          <p:cNvSpPr/>
          <p:nvPr/>
        </p:nvSpPr>
        <p:spPr>
          <a:xfrm>
            <a:off x="3291840" y="2219015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Prețuri dinamice + Cupon invalid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037026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610B48-921E-D2E1-DD25-421654C40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C1CE723-5C9F-0B9B-B060-9195035952E6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F61B57-931C-87F0-14D7-10DB30B4B931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73D5EF-DB4E-9D22-0E5A-38BE452EC1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1214" y="737190"/>
            <a:ext cx="1073577" cy="4258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2574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7E454A-F472-297E-1DAE-7D6BA59F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05C0300-2B2D-DB2A-F52D-82460CCD6D6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1CB355-9C03-8BF0-8211-5291CA8B6C82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EC6293B-7B1B-57F6-267C-2A8A3387ACDD}"/>
              </a:ext>
            </a:extLst>
          </p:cNvPr>
          <p:cNvSpPr/>
          <p:nvPr/>
        </p:nvSpPr>
        <p:spPr>
          <a:xfrm>
            <a:off x="3301409" y="1875229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33D829F-3E7C-8925-D9B7-63B77B288F6C}"/>
              </a:ext>
            </a:extLst>
          </p:cNvPr>
          <p:cNvSpPr/>
          <p:nvPr/>
        </p:nvSpPr>
        <p:spPr>
          <a:xfrm>
            <a:off x="3301409" y="1875229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53E8457-2515-D5AB-AD07-CDCDD29153B6}"/>
              </a:ext>
            </a:extLst>
          </p:cNvPr>
          <p:cNvSpPr/>
          <p:nvPr/>
        </p:nvSpPr>
        <p:spPr>
          <a:xfrm>
            <a:off x="3301409" y="1875229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 — Comparare produse</a:t>
            </a:r>
            <a:endParaRPr lang="en-US" sz="13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C5E4F3-33B0-C827-9ACC-AFED0268ED3B}"/>
              </a:ext>
            </a:extLst>
          </p:cNvPr>
          <p:cNvSpPr/>
          <p:nvPr/>
        </p:nvSpPr>
        <p:spPr>
          <a:xfrm>
            <a:off x="3392849" y="2332429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comparare + Clear list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902373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4B916-88F2-F42A-0ED6-D13B225F2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26F17E-F10C-9AC9-31D5-2FA149E84CD2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AE57AAF-C25A-9BE1-0C3A-92CFA91A443F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777C36-0C76-7DB4-EC23-E2E50AE6F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3573" y="871869"/>
            <a:ext cx="1777525" cy="402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1090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F30D7-3F14-C888-04F9-BA4E3BD6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81E0BB3-DDF1-6754-54D2-1ECA96EEC500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4262BD-6910-BCF7-7EE4-6EAD2231315E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FDA46DA-3A81-E98E-5C7C-FC339E3A2891}"/>
              </a:ext>
            </a:extLst>
          </p:cNvPr>
          <p:cNvSpPr/>
          <p:nvPr/>
        </p:nvSpPr>
        <p:spPr>
          <a:xfrm>
            <a:off x="3063240" y="1892596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135C515A-30EA-1873-D070-9064CEC6DC92}"/>
              </a:ext>
            </a:extLst>
          </p:cNvPr>
          <p:cNvSpPr/>
          <p:nvPr/>
        </p:nvSpPr>
        <p:spPr>
          <a:xfrm>
            <a:off x="3063240" y="1892596"/>
            <a:ext cx="2743200" cy="384048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25865E3-B48A-288D-6D71-F03F11B7808C}"/>
              </a:ext>
            </a:extLst>
          </p:cNvPr>
          <p:cNvSpPr/>
          <p:nvPr/>
        </p:nvSpPr>
        <p:spPr>
          <a:xfrm>
            <a:off x="3063240" y="189259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WF4 — Produs digital</a:t>
            </a:r>
            <a:endParaRPr lang="en-US" sz="13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500C482-F07A-6307-5EF9-D22E1586B96A}"/>
              </a:ext>
            </a:extLst>
          </p:cNvPr>
          <p:cNvSpPr/>
          <p:nvPr/>
        </p:nvSpPr>
        <p:spPr>
          <a:xfrm>
            <a:off x="3154680" y="2349796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Livrare omisă automat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23022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F264-FDBB-F0BC-1CE5-0149543E1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A0BC83A-AFF5-EF0B-B744-A3BB282E6733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4728027-C7C0-5A2B-2E89-C7367EB3F1A1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F11DFC-9A6D-9B57-54B6-43D33AC07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078" y="758455"/>
            <a:ext cx="1244735" cy="429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30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E7795-348B-CC4E-2510-82800501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E1642B-ACDE-5F52-A40E-2F090E9BF2D4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837DC02-B61F-8E67-77AF-71E6D846C6F3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ED70FAF5-F29B-50B4-269C-DADBB74ED8B0}"/>
              </a:ext>
            </a:extLst>
          </p:cNvPr>
          <p:cNvSpPr/>
          <p:nvPr/>
        </p:nvSpPr>
        <p:spPr>
          <a:xfrm>
            <a:off x="3200400" y="1814623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BA040CDE-C3E3-6C40-D91E-356B30C255D3}"/>
              </a:ext>
            </a:extLst>
          </p:cNvPr>
          <p:cNvSpPr/>
          <p:nvPr/>
        </p:nvSpPr>
        <p:spPr>
          <a:xfrm>
            <a:off x="3200400" y="1814623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6636C032-F05B-7F96-4B2D-09C1BD154E50}"/>
              </a:ext>
            </a:extLst>
          </p:cNvPr>
          <p:cNvSpPr/>
          <p:nvPr/>
        </p:nvSpPr>
        <p:spPr>
          <a:xfrm>
            <a:off x="3200400" y="1814623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WF5 — Înregistrare cont</a:t>
            </a:r>
            <a:endParaRPr lang="en-US" sz="13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F0A4903-52F0-B1F1-4658-63C05E1B8A65}"/>
              </a:ext>
            </a:extLst>
          </p:cNvPr>
          <p:cNvSpPr/>
          <p:nvPr/>
        </p:nvSpPr>
        <p:spPr>
          <a:xfrm>
            <a:off x="3291840" y="2271823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dinamic + Prima comandă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21355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7F754-8B2B-477F-3602-44E94A84C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A2CF0B-4259-25E8-461E-09A2826EEDAA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DD7BBE-2CDC-03B9-AF6B-3C718D59F44B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30461D-2F69-5607-4F99-43165CE79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7766" y="685800"/>
            <a:ext cx="1607242" cy="416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381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A0C9-5CFE-E0A2-97A3-B28A847F3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A177A99-D3A1-9AB8-B239-CF1992B5A5A1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041D47-F179-67F7-ED8B-6E8490D74BFC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2EC47A86-F2E8-9A31-42F8-EA298C6D632B}"/>
              </a:ext>
            </a:extLst>
          </p:cNvPr>
          <p:cNvSpPr/>
          <p:nvPr/>
        </p:nvSpPr>
        <p:spPr>
          <a:xfrm>
            <a:off x="3280144" y="1885507"/>
            <a:ext cx="2743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8750386A-7D04-BFFC-D3C6-736190E66892}"/>
              </a:ext>
            </a:extLst>
          </p:cNvPr>
          <p:cNvSpPr/>
          <p:nvPr/>
        </p:nvSpPr>
        <p:spPr>
          <a:xfrm>
            <a:off x="3280144" y="1885507"/>
            <a:ext cx="274320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17D8D235-6774-44F8-D150-0FB7AB42EFDC}"/>
              </a:ext>
            </a:extLst>
          </p:cNvPr>
          <p:cNvSpPr/>
          <p:nvPr/>
        </p:nvSpPr>
        <p:spPr>
          <a:xfrm>
            <a:off x="3280144" y="1885507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WF6 — Persistența sesiunii</a:t>
            </a:r>
            <a:endParaRPr lang="en-US" sz="13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7AF8470-592C-D4B0-98D2-B8B1D11BB91B}"/>
              </a:ext>
            </a:extLst>
          </p:cNvPr>
          <p:cNvSpPr/>
          <p:nvPr/>
        </p:nvSpPr>
        <p:spPr>
          <a:xfrm>
            <a:off x="3371584" y="2342707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Coș + Adresă după logout/login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34353509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07E20-68EA-1562-8954-87B73B146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410DC35-BDEE-6E3D-1652-852964E13B5D}"/>
              </a:ext>
            </a:extLst>
          </p:cNvPr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C5A1459-72EB-110F-08E2-47C359C5E556}"/>
              </a:ext>
            </a:extLst>
          </p:cNvPr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 6 scenarii de testare</a:t>
            </a:r>
            <a:endParaRPr lang="en-US" sz="2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2D6BA4-352C-D710-BD41-A350AEB0B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155" y="878957"/>
            <a:ext cx="1468590" cy="4061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4010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Scenarii — Tipuri de aserțiuni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2743200" cy="4572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143560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critică — testul eșuează dacă condiția nu e îndeplinită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2377440" cy="0"/>
          </a:xfrm>
          <a:prstGeom prst="line">
            <a:avLst/>
          </a:prstGeom>
          <a:noFill/>
          <a:ln w="9525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862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1546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200 la AJAX, URL /checkout/completed, mesaj de succes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46120" y="868680"/>
            <a:ext cx="2743200" cy="45720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Assert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383280" y="143560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opțională — eșecul e înregistrat, testul continuă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429000" y="2788920"/>
            <a:ext cx="2377440" cy="0"/>
          </a:xfrm>
          <a:prstGeom prst="line">
            <a:avLst/>
          </a:prstGeom>
          <a:noFill/>
          <a:ln w="9525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83280" y="2862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31546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Mesaj eroare cupon invalid, livrare omisă la produs digital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868680"/>
            <a:ext cx="2743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72200" y="868680"/>
            <a:ext cx="2743200" cy="4572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72200" y="868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309360" y="1435608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Starea inițială garantată înainte de test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55080" y="2788920"/>
            <a:ext cx="2377440" cy="0"/>
          </a:xfrm>
          <a:prstGeom prst="line">
            <a:avLst/>
          </a:prstGeom>
          <a:noFill/>
          <a:ln w="9525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286207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Exemple: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154680"/>
            <a:ext cx="2468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Coș gol, sesiune nouă, cont persistent existent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automatizare dezvoltat de Microsoft (2020)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09728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· Firefox · WebKit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109728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Multi-limbaj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240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TypeScript · Java · C#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09728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sleep() explicit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109728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interception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page.expect_response()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Implementare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8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Patternuri cheie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Interceptare AJAX cu page.expect_response()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Verificare prețuri dinamice (regex + assert matematic)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assert prin try/except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unic per rulare (timestamp)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 persistent pentru testul de sesiune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868680"/>
            <a:ext cx="4023360" cy="3977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8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Python / Playwright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374904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page.expect_response(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lambda r: "nopcommerce" in r.url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as resp: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page.locator("#filter").check()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resp.value.status == 200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— Avantaje &amp; Dezavantaje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5661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 nativ Chromium, Firefox, WebKit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Interceptare rețea puternică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Auto-wait robust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 Python (pytest, fixtures)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 pentru debugging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Izolare contexte între teste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Dezavantaje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5661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inițial mai complex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 mai verbos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Time Travel live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assertions manuale (try/except)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E2E rulând direct în browser (2017)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9164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109728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240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DOM la fiecare pas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754880" y="1691640"/>
            <a:ext cx="109728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783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Retry-ability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83480" y="2240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Re-evaluare automată până la timeout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65760" y="3017520"/>
            <a:ext cx="109728" cy="10972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cy.intercept()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Interceptare HTTP cu aliasuri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3017520"/>
            <a:ext cx="4114800" cy="1097280"/>
          </a:xfrm>
          <a:prstGeom prst="rect">
            <a:avLst/>
          </a:prstGeom>
          <a:solidFill>
            <a:srgbClr val="0F2035"/>
          </a:solidFill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109728" cy="1097280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App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983480" y="35661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vizual în timp real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455D2-2D8D-898E-4B4C-D66DE8452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E822F6E-1824-EFE6-DA7D-DA9A21A4323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8F5E74D-456F-A70F-67CA-8B766B7E47B8}"/>
              </a:ext>
            </a:extLst>
          </p:cNvPr>
          <p:cNvSpPr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42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19E03EF8-8E9A-1DCD-2584-C70EBA83EF38}"/>
              </a:ext>
            </a:extLst>
          </p:cNvPr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A2EC0CA1-B8B7-A946-0734-DFBB6817C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8932"/>
            <a:ext cx="8911236" cy="367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667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— Avantaje &amp; Dezavantaje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Avantaje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417320"/>
            <a:ext cx="35661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experience superior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 Debugging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cy.intercept() intuitiv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strict nativ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rapid (npm install)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automate la eșec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46320" y="868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Dezavantaje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3566160" cy="3337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Chromium + Firefox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Doar JavaScript/TypeScript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stealth mode (necesită Docker)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Arhitectură single-tab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Asincronicitate implicită confuză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vs. Cypress — Comparație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56032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Criteriu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777240"/>
            <a:ext cx="292608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971800" y="777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777240"/>
            <a:ext cx="2926080" cy="384048"/>
          </a:xfrm>
          <a:prstGeom prst="rect">
            <a:avLst/>
          </a:prstGeom>
          <a:solidFill>
            <a:srgbClr val="1A237E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97880" y="77724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161288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1480" y="11612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16128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71800" y="11612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Chromium, Firefox, WebKit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52160" y="1161288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97880" y="116128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Chromium, Firefox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1545336"/>
            <a:ext cx="25603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154533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Limbaje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1545336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971800" y="15453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TS, Java, C#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852160" y="1545336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97880" y="154533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TypeScript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1929384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192938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192938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971800" y="19293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852160" y="1929384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897880" y="192938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5760" y="2313432"/>
            <a:ext cx="25603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23134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Stealth mode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2313432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71800" y="23134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852160" y="2313432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97880" y="231343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5760" y="2697480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11480" y="269748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Paralelism nativ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269748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71800" y="26974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852160" y="2697480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897880" y="269748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Parțial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081528"/>
            <a:ext cx="25603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11480" y="308152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Travel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26080" y="3081528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971800" y="30815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Viewer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852160" y="3081528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97880" y="3081528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Live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3465576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11480" y="3465576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XP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26080" y="3465576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71800" y="34655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852160" y="3465576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897880" y="3465576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3849624"/>
            <a:ext cx="256032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11480" y="3849624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926080" y="3849624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971800" y="38496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852160" y="3849624"/>
            <a:ext cx="2926080" cy="384048"/>
          </a:xfrm>
          <a:prstGeom prst="rect">
            <a:avLst/>
          </a:prstGeom>
          <a:solidFill>
            <a:srgbClr val="EEF2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897880" y="3849624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Simplu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365760" y="4233672"/>
            <a:ext cx="25603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11480" y="423367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2926080" y="423367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2971800" y="42336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852160" y="4233672"/>
            <a:ext cx="29260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0CD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897880" y="4233672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ce Playwright domină industria?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37160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1148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Multi-browser real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17099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Chromium + Firefox + WebKit cu același cod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371600"/>
          </a:xfrm>
          <a:prstGeom prst="rect">
            <a:avLst/>
          </a:prstGeom>
          <a:solidFill>
            <a:srgbClr val="0F2035"/>
          </a:solidFill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1148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0" y="11887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Multi-limbaj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937760" y="17099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Java, C# — nu doar JS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114800" cy="1371600"/>
          </a:xfrm>
          <a:prstGeom prst="rect">
            <a:avLst/>
          </a:prstGeom>
          <a:solidFill>
            <a:srgbClr val="0F2035"/>
          </a:solidFill>
          <a:ln w="254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5760" y="2606040"/>
            <a:ext cx="4114800" cy="7315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first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" y="32644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nativ, fără Xvfb, trace built-in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4114800" cy="1371600"/>
          </a:xfrm>
          <a:prstGeom prst="rect">
            <a:avLst/>
          </a:prstGeom>
          <a:solidFill>
            <a:srgbClr val="0F2035"/>
          </a:solidFill>
          <a:ln w="254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54880" y="2606040"/>
            <a:ext cx="41148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0" y="2743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Fără limitări de tab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37760" y="326440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OAuth, pop-up, multi-window suportate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206240"/>
            <a:ext cx="9144000" cy="658368"/>
          </a:xfrm>
          <a:prstGeom prst="rect">
            <a:avLst/>
          </a:prstGeom>
          <a:solidFill>
            <a:srgbClr val="0F1E30"/>
          </a:solidFill>
          <a:ln w="12700">
            <a:solidFill>
              <a:srgbClr val="0F1E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2245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Tendința din industrie: State of JS 2023 confirmă adoptarea accelerată a Playwright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ACC1"/>
          </a:solidFill>
          <a:ln w="12700">
            <a:solidFill>
              <a:srgbClr val="00ACC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ada0a2f-b917-4d51-b0d0-d418a10c8b23}" enabled="1" method="Standard" siteId="{12a3af23-a769-4654-847f-958f3d479f4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856</Words>
  <Application>Microsoft Macintosh PowerPoint</Application>
  <PresentationFormat>On-screen Show (16:9)</PresentationFormat>
  <Paragraphs>216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Playwright vs Cypress pe NopCommerce</dc:title>
  <dc:subject>PptxGenJS Presentation</dc:subject>
  <dc:creator>TSS</dc:creator>
  <cp:lastModifiedBy>Stan,David Florin,IN-Kolkata</cp:lastModifiedBy>
  <cp:revision>5</cp:revision>
  <dcterms:created xsi:type="dcterms:W3CDTF">2026-04-19T15:33:11Z</dcterms:created>
  <dcterms:modified xsi:type="dcterms:W3CDTF">2026-04-19T18:50:06Z</dcterms:modified>
</cp:coreProperties>
</file>